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E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5867253" y="1967664"/>
            <a:ext cx="457188" cy="4271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86062" y="2705099"/>
            <a:ext cx="5219569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Source Code Pro"/>
              </a:rPr>
              <a:t>VULTESTER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262" y="3609975"/>
            <a:ext cx="1219169" cy="38100"/>
          </a:xfrm>
          <a:prstGeom prst="rect">
            <a:avLst/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86062" y="3876674"/>
            <a:ext cx="521956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312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Système Expert de Détection de Vulnérabilités Serveur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2166" y="4503700"/>
            <a:ext cx="1638525" cy="546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  <a:latin typeface="Roboto Flex"/>
              </a:rPr>
              <a:t>Mohamed Aziz Mansour</a:t>
            </a:r>
            <a:endParaRPr lang="fr-FR" sz="1076" dirty="0">
              <a:solidFill>
                <a:srgbClr val="FFFFFF"/>
              </a:solidFill>
              <a:latin typeface="Roboto Flex"/>
            </a:endParaRPr>
          </a:p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76" b="0" dirty="0" err="1">
                <a:solidFill>
                  <a:srgbClr val="FFFFFF"/>
                </a:solidFill>
                <a:latin typeface="Roboto Flex"/>
              </a:rPr>
              <a:t>Hiba</a:t>
            </a:r>
            <a:r>
              <a:rPr lang="fr-FR" sz="1076" b="0" dirty="0">
                <a:solidFill>
                  <a:srgbClr val="FFFFFF"/>
                </a:solidFill>
                <a:latin typeface="Roboto Flex"/>
              </a:rPr>
              <a:t> </a:t>
            </a:r>
            <a:r>
              <a:rPr lang="fr-FR" sz="1076" b="0">
                <a:solidFill>
                  <a:srgbClr val="FFFFFF"/>
                </a:solidFill>
                <a:latin typeface="Roboto Flex"/>
              </a:rPr>
              <a:t>Ibraham</a:t>
            </a:r>
            <a:endParaRPr sz="1076" b="0">
              <a:solidFill>
                <a:srgbClr val="FFFFFF"/>
              </a:solidFill>
              <a:latin typeface="Roboto Flex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9629" y="4648200"/>
            <a:ext cx="4762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1550" y="4648200"/>
            <a:ext cx="235261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École Polytechnique de Sousse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6733" y="114300"/>
            <a:ext cx="182875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33EFF"/>
                </a:solidFill>
                <a:latin typeface="Source Code Pro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8398" y="1452563"/>
            <a:ext cx="8572285" cy="1190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030"/>
              </a:lnSpc>
              <a:spcBef>
                <a:spcPts val="0"/>
              </a:spcBef>
              <a:spcAft>
                <a:spcPts val="4160"/>
              </a:spcAft>
            </a:pPr>
            <a:r>
              <a:rPr sz="3109" b="1" dirty="0">
                <a:solidFill>
                  <a:srgbClr val="133EFF"/>
                </a:solidFill>
                <a:latin typeface="Source Code Pro"/>
              </a:rPr>
              <a:t> </a:t>
            </a:r>
            <a:r>
              <a:rPr sz="3109" b="1" dirty="0" err="1">
                <a:solidFill>
                  <a:srgbClr val="133EFF"/>
                </a:solidFill>
                <a:latin typeface="Source Code Pro"/>
              </a:rPr>
              <a:t>Détection</a:t>
            </a:r>
            <a:r>
              <a:rPr sz="3109" b="1" dirty="0">
                <a:solidFill>
                  <a:srgbClr val="133EFF"/>
                </a:solidFill>
                <a:latin typeface="Source Code Pro"/>
              </a:rPr>
              <a:t> </a:t>
            </a:r>
            <a:r>
              <a:rPr sz="3109" b="1" dirty="0" err="1">
                <a:solidFill>
                  <a:srgbClr val="133EFF"/>
                </a:solidFill>
                <a:latin typeface="Source Code Pro"/>
              </a:rPr>
              <a:t>Automatique</a:t>
            </a:r>
            <a:r>
              <a:rPr sz="1104" dirty="0"/>
              <a:t>
</a:t>
            </a:r>
            <a:r>
              <a:rPr sz="3109" b="1" dirty="0">
                <a:solidFill>
                  <a:srgbClr val="133EFF"/>
                </a:solidFill>
                <a:latin typeface="Source Code Pro"/>
              </a:rPr>
              <a:t>des </a:t>
            </a:r>
            <a:r>
              <a:rPr sz="3109" b="1" dirty="0" err="1">
                <a:solidFill>
                  <a:srgbClr val="133EFF"/>
                </a:solidFill>
                <a:latin typeface="Source Code Pro"/>
              </a:rPr>
              <a:t>Failles</a:t>
            </a:r>
            <a:r>
              <a:rPr sz="3109" b="1" dirty="0">
                <a:solidFill>
                  <a:srgbClr val="133EFF"/>
                </a:solidFill>
                <a:latin typeface="Source Code Pro"/>
              </a:rPr>
              <a:t> de </a:t>
            </a:r>
            <a:r>
              <a:rPr sz="3109" b="1" dirty="0" err="1">
                <a:solidFill>
                  <a:srgbClr val="133EFF"/>
                </a:solidFill>
                <a:latin typeface="Source Code Pro"/>
              </a:rPr>
              <a:t>Sécurité</a:t>
            </a:r>
            <a:r>
              <a:rPr sz="3109" b="1" dirty="0">
                <a:solidFill>
                  <a:srgbClr val="133EFF"/>
                </a:solidFill>
                <a:latin typeface="Source Code Pro"/>
              </a:rPr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66853" y="3667124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95447" y="3949867"/>
            <a:ext cx="457188" cy="3489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8714" y="4810124"/>
            <a:ext cx="178113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Expert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7288" y="5229225"/>
            <a:ext cx="173350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Système expert pour</a:t>
            </a:r>
            <a:r>
              <a:rPr sz="1104"/>
              <a:t>
</a:t>
            </a:r>
            <a:r>
              <a:rPr sz="1196" b="0">
                <a:solidFill>
                  <a:srgbClr val="666666"/>
                </a:solidFill>
                <a:latin typeface="Roboto Flex"/>
              </a:rPr>
              <a:t>la détection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8659" y="3667124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253" y="3949867"/>
            <a:ext cx="457188" cy="3489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628" y="4810124"/>
            <a:ext cx="246691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Analyse &amp; Sécurité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7648" y="5229225"/>
            <a:ext cx="2076398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Analyse de configuration</a:t>
            </a:r>
            <a:r>
              <a:rPr sz="1104"/>
              <a:t>
</a:t>
            </a:r>
            <a:r>
              <a:rPr sz="1196" b="0">
                <a:solidFill>
                  <a:srgbClr val="666666"/>
                </a:solidFill>
                <a:latin typeface="Roboto Flex"/>
              </a:rPr>
              <a:t>et de sécurité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0464" y="3667124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9059" y="3921292"/>
            <a:ext cx="457188" cy="4060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8979" y="4810124"/>
            <a:ext cx="20573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Recommandations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3731" y="5229225"/>
            <a:ext cx="2257368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Suggestions automatiques</a:t>
            </a:r>
            <a:r>
              <a:rPr sz="1104"/>
              <a:t>
</a:t>
            </a:r>
            <a:r>
              <a:rPr sz="1196" b="0">
                <a:solidFill>
                  <a:srgbClr val="666666"/>
                </a:solidFill>
                <a:latin typeface="Roboto Flex"/>
              </a:rPr>
              <a:t>de correctifs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52576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33EFF"/>
                </a:solidFill>
                <a:latin typeface="Source Code Pro"/>
              </a:rPr>
              <a:t>Architecture du Système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809749"/>
            <a:ext cx="2809804" cy="2333624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 w="1651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685882" y="2133599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6378" y="2380654"/>
            <a:ext cx="380990" cy="267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0575" y="3047999"/>
            <a:ext cx="216212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133EFF"/>
                </a:solidFill>
                <a:latin typeface="Source Code Pro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75" y="3533774"/>
            <a:ext cx="216212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React + Tailwind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1330" y="26670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776" y="2876135"/>
            <a:ext cx="266693" cy="1913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695707" y="1809749"/>
            <a:ext cx="2809804" cy="2333624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 w="1651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14857" y="2133599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352" y="2368748"/>
            <a:ext cx="380990" cy="2917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19549" y="3047999"/>
            <a:ext cx="216212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133EFF"/>
                </a:solidFill>
                <a:latin typeface="Source Code Pro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9549" y="3533774"/>
            <a:ext cx="216212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Flask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0779" y="26670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2225" y="2876135"/>
            <a:ext cx="266693" cy="1913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715157" y="1619250"/>
            <a:ext cx="2809804" cy="2705099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1651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43831" y="1943100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34326" y="2178248"/>
            <a:ext cx="380990" cy="29170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38999" y="2857500"/>
            <a:ext cx="2162120" cy="742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133EFF"/>
                </a:solidFill>
                <a:latin typeface="Source Code Pro"/>
              </a:rPr>
              <a:t>Moteur d'Inférence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8999" y="3714750"/>
            <a:ext cx="216212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Système expert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57528" y="51815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0CD8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8974" y="5402331"/>
            <a:ext cx="266693" cy="16813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619509" y="4933950"/>
            <a:ext cx="3705132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651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3351" y="5465523"/>
            <a:ext cx="304792" cy="417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62440" y="5181599"/>
            <a:ext cx="263835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00CD82"/>
                </a:solidFill>
                <a:latin typeface="Source Code Pro"/>
              </a:rPr>
              <a:t>Base de Connaissances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2440" y="5543550"/>
            <a:ext cx="263835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</a:rPr>
              <a:t>50 Règles Expertes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135" y="-152401"/>
            <a:ext cx="480047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33EFF"/>
                </a:solidFill>
                <a:latin typeface="Source Code Pro"/>
              </a:rPr>
              <a:t>Base de </a:t>
            </a:r>
            <a:r>
              <a:rPr sz="2392" b="1" dirty="0" err="1">
                <a:solidFill>
                  <a:srgbClr val="133EFF"/>
                </a:solidFill>
                <a:latin typeface="Source Code Pro"/>
              </a:rPr>
              <a:t>Connaissances</a:t>
            </a:r>
            <a:endParaRPr sz="2392" b="1" dirty="0">
              <a:solidFill>
                <a:srgbClr val="133EFF"/>
              </a:solidFill>
              <a:latin typeface="Source Code Pro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7205" y="48894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1502" y="647202"/>
            <a:ext cx="304792" cy="21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889" y="527041"/>
            <a:ext cx="3295567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33EFF"/>
                </a:solidFill>
                <a:latin typeface="Source Code Pro"/>
              </a:rPr>
              <a:t>50 Règles Expertes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7205" y="1327140"/>
            <a:ext cx="5124321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61295" y="162305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799" y="1588585"/>
            <a:ext cx="342891" cy="2010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81087" y="1536691"/>
            <a:ext cx="55243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5919" y="1584315"/>
            <a:ext cx="111439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Ports ouverts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7205" y="2203441"/>
            <a:ext cx="5124321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61295" y="2499351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799" y="2405765"/>
            <a:ext cx="342891" cy="3192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81087" y="2412990"/>
            <a:ext cx="40956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SSL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3048" y="2460616"/>
            <a:ext cx="86675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Certificats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205" y="3079741"/>
            <a:ext cx="5124321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61295" y="3375651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5799" y="3320493"/>
            <a:ext cx="342891" cy="2423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1087" y="3289290"/>
            <a:ext cx="40956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SSH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3048" y="3336916"/>
            <a:ext cx="155253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Configuration SSH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205" y="3956041"/>
            <a:ext cx="5124321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61295" y="4251951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799" y="4184969"/>
            <a:ext cx="342891" cy="26604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81087" y="4165591"/>
            <a:ext cx="55243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PERM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5919" y="4213216"/>
            <a:ext cx="102867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Permissions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205" y="4832340"/>
            <a:ext cx="5124321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61295" y="5128250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5799" y="5073093"/>
            <a:ext cx="342891" cy="24239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81087" y="5041891"/>
            <a:ext cx="55243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SOFT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5919" y="5089515"/>
            <a:ext cx="75245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Logiciels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205" y="5708641"/>
            <a:ext cx="5124321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61295" y="6004551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5799" y="5953827"/>
            <a:ext cx="342891" cy="23352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81087" y="5918190"/>
            <a:ext cx="40956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3048" y="5965816"/>
            <a:ext cx="61910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Réseau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948" y="4190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15246" y="562707"/>
            <a:ext cx="304792" cy="246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48632" y="457200"/>
            <a:ext cx="3838479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33EFF"/>
                </a:solidFill>
                <a:latin typeface="Source Code Pro"/>
              </a:rPr>
              <a:t>4 Niveaux de Sévérité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948" y="1257299"/>
            <a:ext cx="5124321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871676" y="178657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67642" y="1485899"/>
            <a:ext cx="119059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DC2626"/>
                </a:solidFill>
                <a:latin typeface="Source Code Pro"/>
              </a:rPr>
              <a:t>CRITICAL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991884" y="1549644"/>
            <a:ext cx="304792" cy="23446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67642" y="1933575"/>
            <a:ext cx="462903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Action immédiate requise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948" y="2638425"/>
            <a:ext cx="5124321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871676" y="3167697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67642" y="2867025"/>
            <a:ext cx="133346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EA580C"/>
                </a:solidFill>
                <a:latin typeface="Source Code Pro"/>
              </a:rPr>
              <a:t>DANGEROUS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991884" y="2928571"/>
            <a:ext cx="304792" cy="25790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67642" y="3314699"/>
            <a:ext cx="462903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Risque élevé détecté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948" y="4019549"/>
            <a:ext cx="5124321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871676" y="454882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67642" y="4248149"/>
            <a:ext cx="103819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D97706"/>
                </a:solidFill>
                <a:latin typeface="Source Code Pro"/>
              </a:rPr>
              <a:t>WARNING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991884" y="4306032"/>
            <a:ext cx="304792" cy="24618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67642" y="4695825"/>
            <a:ext cx="462903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Attention recommandée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948" y="5400675"/>
            <a:ext cx="5124321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5871676" y="5929947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67642" y="5629275"/>
            <a:ext cx="59053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2563EB"/>
                </a:solidFill>
                <a:latin typeface="Source Code Pro"/>
              </a:rPr>
              <a:t>INFO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991884" y="5690821"/>
            <a:ext cx="304792" cy="2579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67642" y="6076949"/>
            <a:ext cx="462903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Information pure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6733" y="114300"/>
            <a:ext cx="434329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33EFF"/>
                </a:solidFill>
                <a:latin typeface="Source Code Pro"/>
              </a:rPr>
              <a:t>Moteurs d'Inférence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743075"/>
            <a:ext cx="3419389" cy="4181474"/>
          </a:xfrm>
          <a:prstGeom prst="roundRect">
            <a:avLst>
              <a:gd name="adj" fmla="val 4456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90675" y="20859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1645" y="2326658"/>
            <a:ext cx="400039" cy="280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1525" y="3076574"/>
            <a:ext cx="280980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1040"/>
              </a:spcAft>
            </a:pPr>
            <a:r>
              <a:rPr sz="1674" b="1">
                <a:solidFill>
                  <a:srgbClr val="133EFF"/>
                </a:solidFill>
                <a:latin typeface="Source Code Pro"/>
              </a:rPr>
              <a:t>Chaînage Avant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6873" y="3629025"/>
            <a:ext cx="609584" cy="38100"/>
          </a:xfrm>
          <a:prstGeom prst="rect">
            <a:avLst/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1525" y="3895724"/>
            <a:ext cx="2809804" cy="1009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275"/>
              </a:lnSpc>
              <a:spcBef>
                <a:spcPts val="0"/>
              </a:spcBef>
              <a:spcAft>
                <a:spcPts val="1560"/>
              </a:spcAft>
            </a:pPr>
            <a:r>
              <a:rPr sz="1315" b="0">
                <a:solidFill>
                  <a:srgbClr val="666666"/>
                </a:solidFill>
                <a:latin typeface="Roboto Flex"/>
              </a:rPr>
              <a:t>Partir des faits initiaux pour déduire de nouveaux faits par application des règles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1525" y="5133975"/>
            <a:ext cx="2809804" cy="485775"/>
          </a:xfrm>
          <a:prstGeom prst="roundRect">
            <a:avLst>
              <a:gd name="adj" fmla="val 31372"/>
            </a:avLst>
          </a:prstGeom>
          <a:solidFill>
            <a:srgbClr val="133E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437" y="52835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57328" y="5248275"/>
            <a:ext cx="137156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Roboto Flex"/>
              </a:rPr>
              <a:t>Forward Chaining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0915" y="1743075"/>
            <a:ext cx="3419389" cy="4181474"/>
          </a:xfrm>
          <a:prstGeom prst="roundRect">
            <a:avLst>
              <a:gd name="adj" fmla="val 4456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14857" y="20859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5827" y="2326658"/>
            <a:ext cx="400039" cy="2806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95707" y="3076574"/>
            <a:ext cx="280980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1040"/>
              </a:spcAft>
            </a:pPr>
            <a:r>
              <a:rPr sz="1674" b="1">
                <a:solidFill>
                  <a:srgbClr val="133EFF"/>
                </a:solidFill>
                <a:latin typeface="Source Code Pro"/>
              </a:rPr>
              <a:t>Chaînage Arrière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91055" y="3629025"/>
            <a:ext cx="609584" cy="38100"/>
          </a:xfrm>
          <a:prstGeom prst="rect">
            <a:avLst/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5707" y="3895724"/>
            <a:ext cx="2809804" cy="1009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275"/>
              </a:lnSpc>
              <a:spcBef>
                <a:spcPts val="0"/>
              </a:spcBef>
              <a:spcAft>
                <a:spcPts val="1560"/>
              </a:spcAft>
            </a:pPr>
            <a:r>
              <a:rPr sz="1315" b="0">
                <a:solidFill>
                  <a:srgbClr val="666666"/>
                </a:solidFill>
                <a:latin typeface="Roboto Flex"/>
              </a:rPr>
              <a:t>Partir d'un but à prouver et rechercher les règles qui concluent ce but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5707" y="5133975"/>
            <a:ext cx="2809804" cy="485775"/>
          </a:xfrm>
          <a:prstGeom prst="roundRect">
            <a:avLst>
              <a:gd name="adj" fmla="val 31372"/>
            </a:avLst>
          </a:prstGeom>
          <a:solidFill>
            <a:srgbClr val="133E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1945" y="5284946"/>
            <a:ext cx="228594" cy="1743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14837" y="5248275"/>
            <a:ext cx="149538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Roboto Flex"/>
              </a:rPr>
              <a:t>Backward Chaining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5572" y="1743075"/>
            <a:ext cx="3419389" cy="4181474"/>
          </a:xfrm>
          <a:prstGeom prst="roundRect">
            <a:avLst>
              <a:gd name="adj" fmla="val 4456"/>
            </a:avLst>
          </a:prstGeom>
          <a:solidFill>
            <a:srgbClr val="FFFFFF"/>
          </a:solidFill>
          <a:ln w="33020">
            <a:solidFill>
              <a:srgbClr val="00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39039" y="20859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0CD8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20009" y="2320688"/>
            <a:ext cx="400039" cy="2925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10364" y="3076574"/>
            <a:ext cx="280980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1040"/>
              </a:spcAft>
            </a:pPr>
            <a:r>
              <a:rPr sz="1674" b="1">
                <a:solidFill>
                  <a:srgbClr val="00CD82"/>
                </a:solidFill>
                <a:latin typeface="Source Code Pro"/>
              </a:rPr>
              <a:t>Chaînage Mixte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15237" y="3629025"/>
            <a:ext cx="609584" cy="38100"/>
          </a:xfrm>
          <a:prstGeom prst="rect">
            <a:avLst/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0364" y="3895724"/>
            <a:ext cx="2809804" cy="1009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275"/>
              </a:lnSpc>
              <a:spcBef>
                <a:spcPts val="0"/>
              </a:spcBef>
              <a:spcAft>
                <a:spcPts val="1560"/>
              </a:spcAft>
            </a:pPr>
            <a:r>
              <a:rPr sz="1315" b="0">
                <a:solidFill>
                  <a:srgbClr val="666666"/>
                </a:solidFill>
                <a:latin typeface="Roboto Flex"/>
              </a:rPr>
              <a:t>Combinaison des deux approches pour une analyse complète et optimisée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0364" y="5133975"/>
            <a:ext cx="2809804" cy="485775"/>
          </a:xfrm>
          <a:prstGeom prst="roundRect">
            <a:avLst>
              <a:gd name="adj" fmla="val 31372"/>
            </a:avLst>
          </a:prstGeom>
          <a:solidFill>
            <a:srgbClr val="00CD8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91375" y="5300662"/>
            <a:ext cx="228594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34266" y="5248275"/>
            <a:ext cx="130489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  <a:latin typeface="Roboto Flex"/>
              </a:rPr>
              <a:t>Hybrid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6733" y="114300"/>
            <a:ext cx="205734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33EFF"/>
                </a:solidFill>
                <a:latin typeface="Source Code Pro"/>
              </a:rPr>
              <a:t>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66824"/>
            <a:ext cx="3419389" cy="248602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71525" y="160972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872" y="1769679"/>
            <a:ext cx="342891" cy="289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3506" y="1743075"/>
            <a:ext cx="96200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97" y="2566621"/>
            <a:ext cx="27621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 dirty="0">
                <a:solidFill>
                  <a:srgbClr val="133EFF"/>
                </a:solidFill>
                <a:latin typeface="Source Code Pro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040" y="2628900"/>
            <a:ext cx="59053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666666"/>
                </a:solidFill>
                <a:latin typeface="Roboto Flex"/>
              </a:rPr>
              <a:t>Étapes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25" y="3067050"/>
            <a:ext cx="28098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999999"/>
                </a:solidFill>
                <a:latin typeface="Roboto Flex"/>
              </a:rPr>
              <a:t>Questionnaire </a:t>
            </a:r>
            <a:r>
              <a:rPr sz="1076" b="0" dirty="0" err="1">
                <a:solidFill>
                  <a:srgbClr val="999999"/>
                </a:solidFill>
                <a:latin typeface="Roboto Flex"/>
              </a:rPr>
              <a:t>interactif</a:t>
            </a:r>
            <a:endParaRPr sz="1076" b="0" dirty="0">
              <a:solidFill>
                <a:srgbClr val="999999"/>
              </a:solidFill>
              <a:latin typeface="Roboto Flex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90915" y="1266824"/>
            <a:ext cx="3419389" cy="248602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95707" y="160972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9054" y="1781503"/>
            <a:ext cx="342891" cy="2660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7688" y="1743075"/>
            <a:ext cx="12382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Résultats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5707" y="2476499"/>
            <a:ext cx="149538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Classification par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707" y="2900082"/>
            <a:ext cx="190495" cy="16248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2400" y="2900082"/>
            <a:ext cx="190495" cy="16248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9094" y="2900082"/>
            <a:ext cx="190495" cy="16248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95787" y="290008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95707" y="3190874"/>
            <a:ext cx="28098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999999"/>
                </a:solidFill>
                <a:latin typeface="Roboto Flex"/>
              </a:rPr>
              <a:t>Niveaux de sévérité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5572" y="1266824"/>
            <a:ext cx="3419389" cy="248602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33020">
            <a:solidFill>
              <a:srgbClr val="00C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0364" y="1609724"/>
            <a:ext cx="600059" cy="609600"/>
          </a:xfrm>
          <a:prstGeom prst="roundRect">
            <a:avLst>
              <a:gd name="adj" fmla="val 31742857"/>
            </a:avLst>
          </a:prstGeom>
          <a:solidFill>
            <a:srgbClr val="00CD8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43711" y="1769679"/>
            <a:ext cx="342891" cy="2896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62820" y="1743075"/>
            <a:ext cx="20573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CD82"/>
                </a:solidFill>
                <a:latin typeface="Source Code Pro"/>
              </a:rPr>
              <a:t>Recommandations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0364" y="2447924"/>
            <a:ext cx="1095347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00CD82"/>
                </a:solidFill>
                <a:latin typeface="Source Code Pro"/>
              </a:rPr>
              <a:t>Auto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0364" y="3057525"/>
            <a:ext cx="28098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99999"/>
                </a:solidFill>
                <a:latin typeface="Roboto Flex"/>
              </a:rPr>
              <a:t>Correctifs suggérés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4133849"/>
            <a:ext cx="5276718" cy="2266950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1525" y="4481146"/>
            <a:ext cx="304792" cy="2579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90615" y="4438649"/>
            <a:ext cx="178113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Configuration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1525" y="5071782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76318" y="5010149"/>
            <a:ext cx="171445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Sélection du serveur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1525" y="5471832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76318" y="5410199"/>
            <a:ext cx="172398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Choix de la méthode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1525" y="5871882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76318" y="5810249"/>
            <a:ext cx="169540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Paramètres avancés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8243" y="4133849"/>
            <a:ext cx="5276718" cy="2266950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53036" y="4510453"/>
            <a:ext cx="304792" cy="1992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72125" y="4438649"/>
            <a:ext cx="233356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CD82"/>
                </a:solidFill>
                <a:latin typeface="Source Code Pro"/>
              </a:rPr>
              <a:t>Trace d'Inférence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53036" y="5099797"/>
            <a:ext cx="190495" cy="10645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57828" y="5010149"/>
            <a:ext cx="154301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Règles appliquées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53036" y="5499847"/>
            <a:ext cx="190495" cy="10645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7828" y="5410199"/>
            <a:ext cx="107629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Faits déduits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53036" y="5899897"/>
            <a:ext cx="190495" cy="10645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57828" y="5810249"/>
            <a:ext cx="160968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</a:rPr>
              <a:t>Historique complet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434329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33EFF"/>
                </a:solidFill>
                <a:latin typeface="Source Code Pro"/>
              </a:rPr>
              <a:t>Exemple d'Exécution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447800"/>
            <a:ext cx="3286042" cy="476250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648477" y="376301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426" y="16764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816616"/>
            <a:ext cx="247643" cy="195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4912" y="1733550"/>
            <a:ext cx="192400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  <a:latin typeface="Source Code Pro"/>
              </a:rPr>
              <a:t>Faits Initiaux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22" y="3728908"/>
            <a:ext cx="209544" cy="18123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22" y="4367083"/>
            <a:ext cx="209544" cy="1812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81370" y="1447800"/>
            <a:ext cx="4438539" cy="476250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1866160" y="376301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48063" y="16764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CD8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2836" y="1825255"/>
            <a:ext cx="247643" cy="1785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19549" y="1733550"/>
            <a:ext cx="178113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CD82"/>
                </a:solidFill>
                <a:latin typeface="Source Code Pro"/>
              </a:rPr>
              <a:t>Règle PORT-01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5352" y="3688018"/>
            <a:ext cx="171445" cy="1106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4917" y="4089082"/>
            <a:ext cx="228594" cy="16573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38979" y="1447800"/>
            <a:ext cx="2828854" cy="4762500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6523769" y="376301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05672" y="16764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A580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10444" y="1812297"/>
            <a:ext cx="247643" cy="204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77158" y="1733550"/>
            <a:ext cx="10953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EA580C"/>
                </a:solidFill>
                <a:latin typeface="Source Code Pro"/>
              </a:rPr>
              <a:t>Résultat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068" y="3409950"/>
            <a:ext cx="590535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66666"/>
                </a:solidFill>
                <a:latin typeface="Roboto Flex"/>
              </a:rPr>
              <a:t>Sévérité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603" y="3333749"/>
            <a:ext cx="143823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A580C"/>
                </a:solidFill>
                <a:latin typeface="Source Code Pro"/>
              </a:rPr>
              <a:t>DANGEROUS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58068" y="4167058"/>
            <a:ext cx="209544" cy="1812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81910" y="4171950"/>
            <a:ext cx="134299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66666"/>
                </a:solidFill>
                <a:latin typeface="Roboto Flex"/>
              </a:rPr>
              <a:t>Recommandation: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1910" y="4429125"/>
            <a:ext cx="1704932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195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Roboto Flex"/>
              </a:rPr>
              <a:t>Désactiver auth mot de passe</a:t>
            </a:r>
          </a:p>
        </p:txBody>
      </p:sp>
      <p:pic>
        <p:nvPicPr>
          <p:cNvPr id="28" name="Image 2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1D9E560-0108-046A-4678-7D43DC89D0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815" y="1214072"/>
            <a:ext cx="11745964" cy="52299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228594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33EFF"/>
                </a:solidFill>
                <a:latin typeface="Source Code Pro"/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438" y="962025"/>
            <a:ext cx="7238819" cy="571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3020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81230" y="1609724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5527" y="1747471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8914" y="1676400"/>
            <a:ext cx="192400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33EFF"/>
                </a:solidFill>
                <a:latin typeface="Source Code Pro"/>
              </a:rPr>
              <a:t>Réalisations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1230" y="2447924"/>
            <a:ext cx="6629234" cy="914400"/>
          </a:xfrm>
          <a:prstGeom prst="roundRect">
            <a:avLst>
              <a:gd name="adj" fmla="val 16666"/>
            </a:avLst>
          </a:prstGeom>
          <a:solidFill>
            <a:srgbClr val="133E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71725" y="26003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923" y="2707957"/>
            <a:ext cx="228594" cy="1657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05112" y="2619374"/>
            <a:ext cx="22668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33EFF"/>
                </a:solidFill>
                <a:latin typeface="Source Code Pro"/>
              </a:rPr>
              <a:t>50 Règles Expertes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12" y="2952750"/>
            <a:ext cx="253358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99999"/>
                </a:solidFill>
                <a:latin typeface="Roboto Flex"/>
              </a:rPr>
              <a:t>Base de connaissances complète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1230" y="3552825"/>
            <a:ext cx="6629234" cy="914400"/>
          </a:xfrm>
          <a:prstGeom prst="roundRect">
            <a:avLst>
              <a:gd name="adj" fmla="val 16666"/>
            </a:avLst>
          </a:prstGeom>
          <a:solidFill>
            <a:srgbClr val="133E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71725" y="370522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7923" y="3807142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5112" y="3724274"/>
            <a:ext cx="27621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33EFF"/>
                </a:solidFill>
                <a:latin typeface="Source Code Pro"/>
              </a:rPr>
              <a:t>3 Méthodes d'Inférence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5112" y="4057650"/>
            <a:ext cx="276218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99999"/>
                </a:solidFill>
                <a:latin typeface="Roboto Flex"/>
              </a:rPr>
              <a:t>Avant, Arrière, Mixte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1230" y="4657725"/>
            <a:ext cx="6629234" cy="914400"/>
          </a:xfrm>
          <a:prstGeom prst="roundRect">
            <a:avLst>
              <a:gd name="adj" fmla="val 16666"/>
            </a:avLst>
          </a:prstGeom>
          <a:solidFill>
            <a:srgbClr val="133E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71725" y="481012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7923" y="4917757"/>
            <a:ext cx="228594" cy="1657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05112" y="4829175"/>
            <a:ext cx="26383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33EFF"/>
                </a:solidFill>
                <a:latin typeface="Source Code Pro"/>
              </a:rPr>
              <a:t>Interface Web Moderne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112" y="5162550"/>
            <a:ext cx="263835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99999"/>
                </a:solidFill>
                <a:latin typeface="Roboto Flex"/>
              </a:rPr>
              <a:t>React + Tailwind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1230" y="5762625"/>
            <a:ext cx="6629234" cy="914400"/>
          </a:xfrm>
          <a:prstGeom prst="roundRect">
            <a:avLst>
              <a:gd name="adj" fmla="val 16666"/>
            </a:avLst>
          </a:prstGeom>
          <a:solidFill>
            <a:srgbClr val="133E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71725" y="59150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133E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7923" y="6022657"/>
            <a:ext cx="228594" cy="1657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05112" y="5934075"/>
            <a:ext cx="21335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33EFF"/>
                </a:solidFill>
                <a:latin typeface="Source Code Pro"/>
              </a:rPr>
              <a:t>Déploiement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5112" y="6267449"/>
            <a:ext cx="213354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99999"/>
                </a:solidFill>
                <a:latin typeface="Roboto Flex"/>
              </a:rPr>
              <a:t>Railway + GitHub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638659" y="866775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133E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29154" y="1087581"/>
            <a:ext cx="533386" cy="4727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8380" y="2475918"/>
            <a:ext cx="6231129" cy="19061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720"/>
              </a:lnSpc>
              <a:spcBef>
                <a:spcPts val="0"/>
              </a:spcBef>
              <a:spcAft>
                <a:spcPts val="2600"/>
              </a:spcAft>
            </a:pPr>
            <a:r>
              <a:rPr sz="5262" b="1" dirty="0">
                <a:solidFill>
                  <a:srgbClr val="133EFF"/>
                </a:solidFill>
                <a:latin typeface="Source Code Pro"/>
              </a:rPr>
              <a:t>Merci</a:t>
            </a:r>
            <a:r>
              <a:rPr lang="fr-FR" sz="5262" b="1" dirty="0">
                <a:solidFill>
                  <a:srgbClr val="133EFF"/>
                </a:solidFill>
                <a:latin typeface="Source Code Pro"/>
              </a:rPr>
              <a:t> pour </a:t>
            </a:r>
          </a:p>
          <a:p>
            <a:pPr algn="ctr">
              <a:lnSpc>
                <a:spcPts val="5720"/>
              </a:lnSpc>
              <a:spcBef>
                <a:spcPts val="0"/>
              </a:spcBef>
              <a:spcAft>
                <a:spcPts val="2600"/>
              </a:spcAft>
            </a:pPr>
            <a:r>
              <a:rPr lang="fr-FR" sz="5262" b="1" dirty="0">
                <a:solidFill>
                  <a:srgbClr val="133EFF"/>
                </a:solidFill>
                <a:latin typeface="Source Code Pro"/>
              </a:rPr>
              <a:t>votre attention</a:t>
            </a:r>
            <a:endParaRPr sz="5262" b="1" dirty="0">
              <a:solidFill>
                <a:srgbClr val="133EFF"/>
              </a:solidFill>
              <a:latin typeface="Source Code Pr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19483" y="4468534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247" y="4357897"/>
            <a:ext cx="304792" cy="2403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634" y="4468534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242</Words>
  <Application>Microsoft Office PowerPoint</Application>
  <PresentationFormat>Grand écran</PresentationFormat>
  <Paragraphs>95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Roboto Flex</vt:lpstr>
      <vt:lpstr>Source Code Pro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kira star</cp:lastModifiedBy>
  <cp:revision>3</cp:revision>
  <dcterms:created xsi:type="dcterms:W3CDTF">2013-01-27T09:14:16Z</dcterms:created>
  <dcterms:modified xsi:type="dcterms:W3CDTF">2026-01-14T11:58:51Z</dcterms:modified>
  <cp:category/>
</cp:coreProperties>
</file>