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EFF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5867253" y="1967664"/>
            <a:ext cx="457188" cy="4271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86062" y="2705099"/>
            <a:ext cx="5219569" cy="666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4550"/>
              </a:lnSpc>
              <a:spcBef>
                <a:spcPts val="0"/>
              </a:spcBef>
              <a:spcAft>
                <a:spcPts val="1560"/>
              </a:spcAft>
            </a:pPr>
            <a:r>
              <a:rPr sz="3827" b="1">
                <a:solidFill>
                  <a:srgbClr val="FFFFFF"/>
                </a:solidFill>
                <a:latin typeface="Source Code Pro"/>
              </a:rPr>
              <a:t>VULTESTER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262" y="3609975"/>
            <a:ext cx="1219169" cy="38100"/>
          </a:xfrm>
          <a:prstGeom prst="rect">
            <a:avLst/>
          </a:prstGeom>
          <a:solidFill>
            <a:srgbClr val="00C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486062" y="3876674"/>
            <a:ext cx="5219569" cy="3143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3120"/>
              </a:spcAft>
            </a:pPr>
            <a:r>
              <a:rPr sz="1315" b="0">
                <a:solidFill>
                  <a:srgbClr val="FFFFFF"/>
                </a:solidFill>
                <a:latin typeface="Roboto Flex"/>
              </a:rPr>
              <a:t>Système Expert de Détection de Vulnérabilités Serveur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57528" y="4648200"/>
            <a:ext cx="1847803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F"/>
                </a:solidFill>
                <a:latin typeface="Roboto Flex"/>
              </a:rPr>
              <a:t>Mohamed Aziz Mansour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19629" y="4648200"/>
            <a:ext cx="47623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F"/>
                </a:solidFill>
                <a:latin typeface="Roboto Flex"/>
              </a:rPr>
              <a:t>|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1550" y="4648200"/>
            <a:ext cx="2352616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F"/>
                </a:solidFill>
                <a:latin typeface="Roboto Flex"/>
              </a:rPr>
              <a:t>École Polytechnique de Sousse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66733" y="114300"/>
            <a:ext cx="1828754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133EFF"/>
                </a:solidFill>
                <a:latin typeface="Source Code Pro"/>
              </a:rPr>
              <a:t>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38398" y="1452563"/>
            <a:ext cx="8572285" cy="11906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4030"/>
              </a:lnSpc>
              <a:spcBef>
                <a:spcPts val="0"/>
              </a:spcBef>
              <a:spcAft>
                <a:spcPts val="4160"/>
              </a:spcAft>
            </a:pPr>
            <a:r>
              <a:rPr sz="3109" b="1" dirty="0">
                <a:solidFill>
                  <a:srgbClr val="133EFF"/>
                </a:solidFill>
                <a:latin typeface="Source Code Pro"/>
              </a:rPr>
              <a:t> </a:t>
            </a:r>
            <a:r>
              <a:rPr sz="3109" b="1" dirty="0" err="1">
                <a:solidFill>
                  <a:srgbClr val="133EFF"/>
                </a:solidFill>
                <a:latin typeface="Source Code Pro"/>
              </a:rPr>
              <a:t>Détection</a:t>
            </a:r>
            <a:r>
              <a:rPr sz="3109" b="1" dirty="0">
                <a:solidFill>
                  <a:srgbClr val="133EFF"/>
                </a:solidFill>
                <a:latin typeface="Source Code Pro"/>
              </a:rPr>
              <a:t> </a:t>
            </a:r>
            <a:r>
              <a:rPr sz="3109" b="1" dirty="0" err="1">
                <a:solidFill>
                  <a:srgbClr val="133EFF"/>
                </a:solidFill>
                <a:latin typeface="Source Code Pro"/>
              </a:rPr>
              <a:t>Automatique</a:t>
            </a:r>
            <a:r>
              <a:rPr sz="1104" dirty="0"/>
              <a:t>
</a:t>
            </a:r>
            <a:r>
              <a:rPr sz="3109" b="1" dirty="0">
                <a:solidFill>
                  <a:srgbClr val="133EFF"/>
                </a:solidFill>
                <a:latin typeface="Source Code Pro"/>
              </a:rPr>
              <a:t>des </a:t>
            </a:r>
            <a:r>
              <a:rPr sz="3109" b="1" dirty="0" err="1">
                <a:solidFill>
                  <a:srgbClr val="133EFF"/>
                </a:solidFill>
                <a:latin typeface="Source Code Pro"/>
              </a:rPr>
              <a:t>Failles</a:t>
            </a:r>
            <a:r>
              <a:rPr sz="3109" b="1" dirty="0">
                <a:solidFill>
                  <a:srgbClr val="133EFF"/>
                </a:solidFill>
                <a:latin typeface="Source Code Pro"/>
              </a:rPr>
              <a:t> de </a:t>
            </a:r>
            <a:r>
              <a:rPr sz="3109" b="1" dirty="0" err="1">
                <a:solidFill>
                  <a:srgbClr val="133EFF"/>
                </a:solidFill>
                <a:latin typeface="Source Code Pro"/>
              </a:rPr>
              <a:t>Sécurité</a:t>
            </a:r>
            <a:r>
              <a:rPr sz="3109" b="1" dirty="0">
                <a:solidFill>
                  <a:srgbClr val="133EFF"/>
                </a:solidFill>
                <a:latin typeface="Source Code Pro"/>
              </a:rPr>
              <a:t>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66853" y="3667124"/>
            <a:ext cx="914377" cy="914400"/>
          </a:xfrm>
          <a:prstGeom prst="roundRect">
            <a:avLst>
              <a:gd name="adj" fmla="val 20831250"/>
            </a:avLst>
          </a:prstGeom>
          <a:solidFill>
            <a:srgbClr val="133E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095447" y="3949867"/>
            <a:ext cx="457188" cy="3489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28714" y="4810124"/>
            <a:ext cx="1781130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520"/>
              </a:spcAft>
            </a:pPr>
            <a:r>
              <a:rPr sz="1435" b="1">
                <a:solidFill>
                  <a:srgbClr val="133EFF"/>
                </a:solidFill>
                <a:latin typeface="Source Code Pro"/>
              </a:rPr>
              <a:t>Expert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7288" y="5229225"/>
            <a:ext cx="1733506" cy="5715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666666"/>
                </a:solidFill>
                <a:latin typeface="Roboto Flex"/>
              </a:rPr>
              <a:t>Système expert pour</a:t>
            </a:r>
            <a:r>
              <a:rPr sz="1104"/>
              <a:t>
</a:t>
            </a:r>
            <a:r>
              <a:rPr sz="1196" b="0">
                <a:solidFill>
                  <a:srgbClr val="666666"/>
                </a:solidFill>
                <a:latin typeface="Roboto Flex"/>
              </a:rPr>
              <a:t>la détection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38659" y="3667124"/>
            <a:ext cx="914377" cy="914400"/>
          </a:xfrm>
          <a:prstGeom prst="roundRect">
            <a:avLst>
              <a:gd name="adj" fmla="val 20831250"/>
            </a:avLst>
          </a:prstGeom>
          <a:solidFill>
            <a:srgbClr val="133E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67253" y="3949867"/>
            <a:ext cx="457188" cy="3489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628" y="4810124"/>
            <a:ext cx="2466913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520"/>
              </a:spcAft>
            </a:pPr>
            <a:r>
              <a:rPr sz="1435" b="1">
                <a:solidFill>
                  <a:srgbClr val="133EFF"/>
                </a:solidFill>
                <a:latin typeface="Source Code Pro"/>
              </a:rPr>
              <a:t>Analyse &amp; Sécurité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57648" y="5229225"/>
            <a:ext cx="2076398" cy="5715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666666"/>
                </a:solidFill>
                <a:latin typeface="Roboto Flex"/>
              </a:rPr>
              <a:t>Analyse de configuration</a:t>
            </a:r>
            <a:r>
              <a:rPr sz="1104"/>
              <a:t>
</a:t>
            </a:r>
            <a:r>
              <a:rPr sz="1196" b="0">
                <a:solidFill>
                  <a:srgbClr val="666666"/>
                </a:solidFill>
                <a:latin typeface="Roboto Flex"/>
              </a:rPr>
              <a:t>et de sécurité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10464" y="3667124"/>
            <a:ext cx="914377" cy="914400"/>
          </a:xfrm>
          <a:prstGeom prst="roundRect">
            <a:avLst>
              <a:gd name="adj" fmla="val 20831250"/>
            </a:avLst>
          </a:prstGeom>
          <a:solidFill>
            <a:srgbClr val="133E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639059" y="3921292"/>
            <a:ext cx="457188" cy="40606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38979" y="4810124"/>
            <a:ext cx="2057348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520"/>
              </a:spcAft>
            </a:pPr>
            <a:r>
              <a:rPr sz="1435" b="1">
                <a:solidFill>
                  <a:srgbClr val="133EFF"/>
                </a:solidFill>
                <a:latin typeface="Source Code Pro"/>
              </a:rPr>
              <a:t>Recommandations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3731" y="5229225"/>
            <a:ext cx="2257368" cy="5715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666666"/>
                </a:solidFill>
                <a:latin typeface="Roboto Flex"/>
              </a:rPr>
              <a:t>Suggestions automatiques</a:t>
            </a:r>
            <a:r>
              <a:rPr sz="1104"/>
              <a:t>
</a:t>
            </a:r>
            <a:r>
              <a:rPr sz="1196" b="0">
                <a:solidFill>
                  <a:srgbClr val="666666"/>
                </a:solidFill>
                <a:latin typeface="Roboto Flex"/>
              </a:rPr>
              <a:t>de correctifs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6733" y="114300"/>
            <a:ext cx="5257668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133EFF"/>
                </a:solidFill>
                <a:latin typeface="Source Code Pro"/>
              </a:rPr>
              <a:t>Architecture du Système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66733" y="1809749"/>
            <a:ext cx="2809804" cy="2333624"/>
          </a:xfrm>
          <a:prstGeom prst="roundRect">
            <a:avLst>
              <a:gd name="adj" fmla="val 6530"/>
            </a:avLst>
          </a:prstGeom>
          <a:solidFill>
            <a:srgbClr val="FFFFFF"/>
          </a:solidFill>
          <a:ln w="1651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685882" y="2133599"/>
            <a:ext cx="761980" cy="761999"/>
          </a:xfrm>
          <a:prstGeom prst="roundRect">
            <a:avLst>
              <a:gd name="adj" fmla="val 24997500"/>
            </a:avLst>
          </a:prstGeom>
          <a:solidFill>
            <a:srgbClr val="133E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876378" y="2380654"/>
            <a:ext cx="380990" cy="2678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90575" y="3047999"/>
            <a:ext cx="2162120" cy="3714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535"/>
              </a:lnSpc>
              <a:spcBef>
                <a:spcPts val="0"/>
              </a:spcBef>
              <a:spcAft>
                <a:spcPts val="780"/>
              </a:spcAft>
            </a:pPr>
            <a:r>
              <a:rPr sz="1554" b="1">
                <a:solidFill>
                  <a:srgbClr val="133EFF"/>
                </a:solidFill>
                <a:latin typeface="Source Code Pro"/>
              </a:rP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575" y="3533774"/>
            <a:ext cx="2162120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666666"/>
                </a:solidFill>
                <a:latin typeface="Roboto Flex"/>
              </a:rPr>
              <a:t>React + Tailwind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81330" y="2667000"/>
            <a:ext cx="609584" cy="609600"/>
          </a:xfrm>
          <a:prstGeom prst="roundRect">
            <a:avLst>
              <a:gd name="adj" fmla="val 31246875"/>
            </a:avLst>
          </a:prstGeom>
          <a:solidFill>
            <a:srgbClr val="133E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52776" y="2876135"/>
            <a:ext cx="266693" cy="19132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695707" y="1809749"/>
            <a:ext cx="2809804" cy="2333624"/>
          </a:xfrm>
          <a:prstGeom prst="roundRect">
            <a:avLst>
              <a:gd name="adj" fmla="val 6530"/>
            </a:avLst>
          </a:prstGeom>
          <a:solidFill>
            <a:srgbClr val="FFFFFF"/>
          </a:solidFill>
          <a:ln w="1651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714857" y="2133599"/>
            <a:ext cx="761980" cy="761999"/>
          </a:xfrm>
          <a:prstGeom prst="roundRect">
            <a:avLst>
              <a:gd name="adj" fmla="val 24997500"/>
            </a:avLst>
          </a:prstGeom>
          <a:solidFill>
            <a:srgbClr val="133E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05352" y="2368748"/>
            <a:ext cx="380990" cy="29170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19549" y="3047999"/>
            <a:ext cx="2162120" cy="3714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535"/>
              </a:lnSpc>
              <a:spcBef>
                <a:spcPts val="0"/>
              </a:spcBef>
              <a:spcAft>
                <a:spcPts val="780"/>
              </a:spcAft>
            </a:pPr>
            <a:r>
              <a:rPr sz="1554" b="1">
                <a:solidFill>
                  <a:srgbClr val="133EFF"/>
                </a:solidFill>
                <a:latin typeface="Source Code Pro"/>
              </a:rPr>
              <a:t>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9549" y="3533774"/>
            <a:ext cx="2162120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666666"/>
                </a:solidFill>
                <a:latin typeface="Roboto Flex"/>
              </a:rPr>
              <a:t>Flask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00779" y="2667000"/>
            <a:ext cx="609584" cy="609600"/>
          </a:xfrm>
          <a:prstGeom prst="roundRect">
            <a:avLst>
              <a:gd name="adj" fmla="val 31246875"/>
            </a:avLst>
          </a:prstGeom>
          <a:solidFill>
            <a:srgbClr val="133E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72225" y="2876135"/>
            <a:ext cx="266693" cy="19132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715157" y="1619250"/>
            <a:ext cx="2809804" cy="2705099"/>
          </a:xfrm>
          <a:prstGeom prst="roundRect">
            <a:avLst>
              <a:gd name="adj" fmla="val 5633"/>
            </a:avLst>
          </a:prstGeom>
          <a:solidFill>
            <a:srgbClr val="FFFFFF"/>
          </a:solidFill>
          <a:ln w="1651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743831" y="1943100"/>
            <a:ext cx="761980" cy="761999"/>
          </a:xfrm>
          <a:prstGeom prst="roundRect">
            <a:avLst>
              <a:gd name="adj" fmla="val 24997500"/>
            </a:avLst>
          </a:prstGeom>
          <a:solidFill>
            <a:srgbClr val="133E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934326" y="2178248"/>
            <a:ext cx="380990" cy="29170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038999" y="2857500"/>
            <a:ext cx="2162120" cy="742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535"/>
              </a:lnSpc>
              <a:spcBef>
                <a:spcPts val="0"/>
              </a:spcBef>
              <a:spcAft>
                <a:spcPts val="780"/>
              </a:spcAft>
            </a:pPr>
            <a:r>
              <a:rPr sz="1554" b="1">
                <a:solidFill>
                  <a:srgbClr val="133EFF"/>
                </a:solidFill>
                <a:latin typeface="Source Code Pro"/>
              </a:rPr>
              <a:t>Moteur d'Inférence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8999" y="3714750"/>
            <a:ext cx="2162120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666666"/>
                </a:solidFill>
                <a:latin typeface="Roboto Flex"/>
              </a:rPr>
              <a:t>Système expert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57528" y="5181599"/>
            <a:ext cx="609584" cy="609600"/>
          </a:xfrm>
          <a:prstGeom prst="roundRect">
            <a:avLst>
              <a:gd name="adj" fmla="val 31246875"/>
            </a:avLst>
          </a:prstGeom>
          <a:solidFill>
            <a:srgbClr val="00CD82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028974" y="5402331"/>
            <a:ext cx="266693" cy="168136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4619509" y="4933950"/>
            <a:ext cx="3705132" cy="110490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6510"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943351" y="5465523"/>
            <a:ext cx="304792" cy="4175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362440" y="5181599"/>
            <a:ext cx="2638359" cy="3143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260"/>
              </a:spcAft>
            </a:pPr>
            <a:r>
              <a:rPr sz="1315" b="1">
                <a:solidFill>
                  <a:srgbClr val="00CD82"/>
                </a:solidFill>
                <a:latin typeface="Source Code Pro"/>
              </a:rPr>
              <a:t>Base de Connaissances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62440" y="5543550"/>
            <a:ext cx="2638359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666666"/>
                </a:solidFill>
                <a:latin typeface="Roboto Flex"/>
              </a:rPr>
              <a:t>50 Règles Expertes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135" y="-152401"/>
            <a:ext cx="4800479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 dirty="0">
                <a:solidFill>
                  <a:srgbClr val="133EFF"/>
                </a:solidFill>
                <a:latin typeface="Source Code Pro"/>
              </a:rPr>
              <a:t>Base de </a:t>
            </a:r>
            <a:r>
              <a:rPr sz="2392" b="1" dirty="0" err="1">
                <a:solidFill>
                  <a:srgbClr val="133EFF"/>
                </a:solidFill>
                <a:latin typeface="Source Code Pro"/>
              </a:rPr>
              <a:t>Connaissances</a:t>
            </a:r>
            <a:endParaRPr sz="2392" b="1" dirty="0">
              <a:solidFill>
                <a:srgbClr val="133EFF"/>
              </a:solidFill>
              <a:latin typeface="Source Code Pro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7205" y="488940"/>
            <a:ext cx="533386" cy="533399"/>
          </a:xfrm>
          <a:prstGeom prst="roundRect">
            <a:avLst>
              <a:gd name="adj" fmla="val 35710714"/>
            </a:avLst>
          </a:prstGeom>
          <a:solidFill>
            <a:srgbClr val="133E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1502" y="647202"/>
            <a:ext cx="304792" cy="216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4889" y="527041"/>
            <a:ext cx="3295567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1913" b="1">
                <a:solidFill>
                  <a:srgbClr val="133EFF"/>
                </a:solidFill>
                <a:latin typeface="Source Code Pro"/>
              </a:rPr>
              <a:t>50 Règles Expertes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7205" y="1327140"/>
            <a:ext cx="5124321" cy="723900"/>
          </a:xfrm>
          <a:prstGeom prst="roundRect">
            <a:avLst>
              <a:gd name="adj" fmla="val 2105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361295" y="1623050"/>
            <a:ext cx="7239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85799" y="1588585"/>
            <a:ext cx="342891" cy="20101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81087" y="1536691"/>
            <a:ext cx="552436" cy="2952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133EFF"/>
                </a:solidFill>
                <a:latin typeface="Source Code Pro"/>
              </a:rPr>
              <a:t>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85919" y="1584315"/>
            <a:ext cx="111439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666666"/>
                </a:solidFill>
                <a:latin typeface="Roboto Flex"/>
              </a:rPr>
              <a:t>Ports ouverts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7205" y="2203441"/>
            <a:ext cx="5124321" cy="723900"/>
          </a:xfrm>
          <a:prstGeom prst="roundRect">
            <a:avLst>
              <a:gd name="adj" fmla="val 2105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 Same Side Corner Rectangle 11"/>
          <p:cNvSpPr/>
          <p:nvPr/>
        </p:nvSpPr>
        <p:spPr>
          <a:xfrm rot="16200000">
            <a:off x="361295" y="2499351"/>
            <a:ext cx="7239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85799" y="2405765"/>
            <a:ext cx="342891" cy="31925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81087" y="2412990"/>
            <a:ext cx="409564" cy="2952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133EFF"/>
                </a:solidFill>
                <a:latin typeface="Source Code Pro"/>
              </a:rPr>
              <a:t>SSL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43048" y="2460616"/>
            <a:ext cx="86675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666666"/>
                </a:solidFill>
                <a:latin typeface="Roboto Flex"/>
              </a:rPr>
              <a:t>Certificats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7205" y="3079741"/>
            <a:ext cx="5124321" cy="723900"/>
          </a:xfrm>
          <a:prstGeom prst="roundRect">
            <a:avLst>
              <a:gd name="adj" fmla="val 2105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 Same Side Corner Rectangle 16"/>
          <p:cNvSpPr/>
          <p:nvPr/>
        </p:nvSpPr>
        <p:spPr>
          <a:xfrm rot="16200000">
            <a:off x="361295" y="3375651"/>
            <a:ext cx="7239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85799" y="3320493"/>
            <a:ext cx="342891" cy="24239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381087" y="3289290"/>
            <a:ext cx="409564" cy="2952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133EFF"/>
                </a:solidFill>
                <a:latin typeface="Source Code Pro"/>
              </a:rPr>
              <a:t>SSH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43048" y="3336916"/>
            <a:ext cx="1552536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666666"/>
                </a:solidFill>
                <a:latin typeface="Roboto Flex"/>
              </a:rPr>
              <a:t>Configuration SSH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7205" y="3956041"/>
            <a:ext cx="5124321" cy="723900"/>
          </a:xfrm>
          <a:prstGeom prst="roundRect">
            <a:avLst>
              <a:gd name="adj" fmla="val 2105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 Same Side Corner Rectangle 21"/>
          <p:cNvSpPr/>
          <p:nvPr/>
        </p:nvSpPr>
        <p:spPr>
          <a:xfrm rot="16200000">
            <a:off x="361295" y="4251951"/>
            <a:ext cx="7239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85799" y="4184969"/>
            <a:ext cx="342891" cy="266043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81087" y="4165591"/>
            <a:ext cx="552436" cy="2952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133EFF"/>
                </a:solidFill>
                <a:latin typeface="Source Code Pro"/>
              </a:rPr>
              <a:t>PERM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85919" y="4213216"/>
            <a:ext cx="1028674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666666"/>
                </a:solidFill>
                <a:latin typeface="Roboto Flex"/>
              </a:rPr>
              <a:t>Permissions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7205" y="4832340"/>
            <a:ext cx="5124321" cy="723900"/>
          </a:xfrm>
          <a:prstGeom prst="roundRect">
            <a:avLst>
              <a:gd name="adj" fmla="val 2105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 Same Side Corner Rectangle 26"/>
          <p:cNvSpPr/>
          <p:nvPr/>
        </p:nvSpPr>
        <p:spPr>
          <a:xfrm rot="16200000">
            <a:off x="361295" y="5128250"/>
            <a:ext cx="7239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85799" y="5073093"/>
            <a:ext cx="342891" cy="24239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381087" y="5041891"/>
            <a:ext cx="552436" cy="2952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133EFF"/>
                </a:solidFill>
                <a:latin typeface="Source Code Pro"/>
              </a:rPr>
              <a:t>SOFT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5919" y="5089515"/>
            <a:ext cx="752456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666666"/>
                </a:solidFill>
                <a:latin typeface="Roboto Flex"/>
              </a:rPr>
              <a:t>Logiciels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7205" y="5708641"/>
            <a:ext cx="5124321" cy="723900"/>
          </a:xfrm>
          <a:prstGeom prst="roundRect">
            <a:avLst>
              <a:gd name="adj" fmla="val 2105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 Same Side Corner Rectangle 31"/>
          <p:cNvSpPr/>
          <p:nvPr/>
        </p:nvSpPr>
        <p:spPr>
          <a:xfrm rot="16200000">
            <a:off x="361295" y="6004551"/>
            <a:ext cx="7239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85799" y="5953827"/>
            <a:ext cx="342891" cy="23352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381087" y="5918190"/>
            <a:ext cx="409564" cy="2952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133EFF"/>
                </a:solidFill>
                <a:latin typeface="Source Code Pro"/>
              </a:rPr>
              <a:t>NET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43048" y="5965816"/>
            <a:ext cx="61910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666666"/>
                </a:solidFill>
                <a:latin typeface="Roboto Flex"/>
              </a:rPr>
              <a:t>Réseau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948" y="419099"/>
            <a:ext cx="533386" cy="533399"/>
          </a:xfrm>
          <a:prstGeom prst="roundRect">
            <a:avLst>
              <a:gd name="adj" fmla="val 35710714"/>
            </a:avLst>
          </a:prstGeom>
          <a:solidFill>
            <a:srgbClr val="133E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515246" y="562707"/>
            <a:ext cx="304792" cy="24618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048632" y="457200"/>
            <a:ext cx="3838479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1913" b="1">
                <a:solidFill>
                  <a:srgbClr val="133EFF"/>
                </a:solidFill>
                <a:latin typeface="Source Code Pro"/>
              </a:rPr>
              <a:t>4 Niveaux de Sévérité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948" y="1257299"/>
            <a:ext cx="5124321" cy="1190625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 Same Side Corner Rectangle 39"/>
          <p:cNvSpPr/>
          <p:nvPr/>
        </p:nvSpPr>
        <p:spPr>
          <a:xfrm rot="16200000">
            <a:off x="5871676" y="1786571"/>
            <a:ext cx="119062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67642" y="1485899"/>
            <a:ext cx="1190595" cy="3714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1554" b="1">
                <a:solidFill>
                  <a:srgbClr val="DC2626"/>
                </a:solidFill>
                <a:latin typeface="Source Code Pro"/>
              </a:rPr>
              <a:t>CRITICAL</a:t>
            </a:r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991884" y="1549644"/>
            <a:ext cx="304792" cy="234461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667642" y="1933575"/>
            <a:ext cx="4629034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666666"/>
                </a:solidFill>
                <a:latin typeface="Roboto Flex"/>
              </a:rPr>
              <a:t>Action immédiate requise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948" y="2638425"/>
            <a:ext cx="5124321" cy="1190625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 Same Side Corner Rectangle 44"/>
          <p:cNvSpPr/>
          <p:nvPr/>
        </p:nvSpPr>
        <p:spPr>
          <a:xfrm rot="16200000">
            <a:off x="5871676" y="3167697"/>
            <a:ext cx="119062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667642" y="2867025"/>
            <a:ext cx="1333466" cy="3714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1554" b="1">
                <a:solidFill>
                  <a:srgbClr val="EA580C"/>
                </a:solidFill>
                <a:latin typeface="Source Code Pro"/>
              </a:rPr>
              <a:t>DANGEROUS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10991884" y="2928571"/>
            <a:ext cx="304792" cy="25790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667642" y="3314699"/>
            <a:ext cx="4629034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666666"/>
                </a:solidFill>
                <a:latin typeface="Roboto Flex"/>
              </a:rPr>
              <a:t>Risque élevé détecté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948" y="4019549"/>
            <a:ext cx="5124321" cy="1190625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 Same Side Corner Rectangle 49"/>
          <p:cNvSpPr/>
          <p:nvPr/>
        </p:nvSpPr>
        <p:spPr>
          <a:xfrm rot="16200000">
            <a:off x="5871676" y="4548821"/>
            <a:ext cx="119062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667642" y="4248149"/>
            <a:ext cx="1038199" cy="3714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1554" b="1">
                <a:solidFill>
                  <a:srgbClr val="D97706"/>
                </a:solidFill>
                <a:latin typeface="Source Code Pro"/>
              </a:rPr>
              <a:t>WARNING</a:t>
            </a:r>
          </a:p>
        </p:txBody>
      </p:sp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0991884" y="4306032"/>
            <a:ext cx="304792" cy="24618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67642" y="4695825"/>
            <a:ext cx="4629034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666666"/>
                </a:solidFill>
                <a:latin typeface="Roboto Flex"/>
              </a:rPr>
              <a:t>Attention recommandée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948" y="5400675"/>
            <a:ext cx="5124321" cy="1190625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 Same Side Corner Rectangle 54"/>
          <p:cNvSpPr/>
          <p:nvPr/>
        </p:nvSpPr>
        <p:spPr>
          <a:xfrm rot="16200000">
            <a:off x="5871676" y="5929947"/>
            <a:ext cx="119062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667642" y="5629275"/>
            <a:ext cx="590535" cy="3714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1554" b="1">
                <a:solidFill>
                  <a:srgbClr val="2563EB"/>
                </a:solidFill>
                <a:latin typeface="Source Code Pro"/>
              </a:rPr>
              <a:t>INFO</a:t>
            </a:r>
          </a:p>
        </p:txBody>
      </p:sp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10991884" y="5690821"/>
            <a:ext cx="304792" cy="25790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6667642" y="6076949"/>
            <a:ext cx="4629034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666666"/>
                </a:solidFill>
                <a:latin typeface="Roboto Flex"/>
              </a:rPr>
              <a:t>Information pure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66733" y="114300"/>
            <a:ext cx="4343291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133EFF"/>
                </a:solidFill>
                <a:latin typeface="Source Code Pro"/>
              </a:rPr>
              <a:t>Moteurs d'Inférence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6733" y="1743075"/>
            <a:ext cx="3419389" cy="4181474"/>
          </a:xfrm>
          <a:prstGeom prst="roundRect">
            <a:avLst>
              <a:gd name="adj" fmla="val 4456"/>
            </a:avLst>
          </a:prstGeom>
          <a:solidFill>
            <a:srgbClr val="FFFFFF"/>
          </a:solidFill>
          <a:ln w="33020">
            <a:solidFill>
              <a:srgbClr val="133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990675" y="2085975"/>
            <a:ext cx="761980" cy="761999"/>
          </a:xfrm>
          <a:prstGeom prst="roundRect">
            <a:avLst>
              <a:gd name="adj" fmla="val 24997500"/>
            </a:avLst>
          </a:prstGeom>
          <a:solidFill>
            <a:srgbClr val="133E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71645" y="2326658"/>
            <a:ext cx="400039" cy="2806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1525" y="3076574"/>
            <a:ext cx="2809804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1040"/>
              </a:spcAft>
            </a:pPr>
            <a:r>
              <a:rPr sz="1674" b="1">
                <a:solidFill>
                  <a:srgbClr val="133EFF"/>
                </a:solidFill>
                <a:latin typeface="Source Code Pro"/>
              </a:rPr>
              <a:t>Chaînage Avant</a:t>
            </a:r>
          </a:p>
        </p:txBody>
      </p:sp>
      <p:sp>
        <p:nvSpPr>
          <p:cNvPr id="8" name="Rectangle 7"/>
          <p:cNvSpPr/>
          <p:nvPr/>
        </p:nvSpPr>
        <p:spPr>
          <a:xfrm>
            <a:off x="2066873" y="3629025"/>
            <a:ext cx="609584" cy="38100"/>
          </a:xfrm>
          <a:prstGeom prst="rect">
            <a:avLst/>
          </a:prstGeom>
          <a:solidFill>
            <a:srgbClr val="133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1525" y="3895724"/>
            <a:ext cx="2809804" cy="100964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275"/>
              </a:lnSpc>
              <a:spcBef>
                <a:spcPts val="0"/>
              </a:spcBef>
              <a:spcAft>
                <a:spcPts val="1560"/>
              </a:spcAft>
            </a:pPr>
            <a:r>
              <a:rPr sz="1315" b="0">
                <a:solidFill>
                  <a:srgbClr val="666666"/>
                </a:solidFill>
                <a:latin typeface="Roboto Flex"/>
              </a:rPr>
              <a:t>Partir des faits initiaux pour déduire de nouveaux faits par application des règles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1525" y="5133975"/>
            <a:ext cx="2809804" cy="485775"/>
          </a:xfrm>
          <a:prstGeom prst="roundRect">
            <a:avLst>
              <a:gd name="adj" fmla="val 31372"/>
            </a:avLst>
          </a:prstGeom>
          <a:solidFill>
            <a:srgbClr val="133E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14437" y="5283517"/>
            <a:ext cx="228594" cy="1771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57328" y="5248275"/>
            <a:ext cx="1371565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333333"/>
                </a:solidFill>
                <a:latin typeface="Roboto Flex"/>
              </a:rPr>
              <a:t>Forward Chaining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90915" y="1743075"/>
            <a:ext cx="3419389" cy="4181474"/>
          </a:xfrm>
          <a:prstGeom prst="roundRect">
            <a:avLst>
              <a:gd name="adj" fmla="val 4456"/>
            </a:avLst>
          </a:prstGeom>
          <a:solidFill>
            <a:srgbClr val="FFFFFF"/>
          </a:solidFill>
          <a:ln w="33020">
            <a:solidFill>
              <a:srgbClr val="133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714857" y="2085975"/>
            <a:ext cx="761980" cy="761999"/>
          </a:xfrm>
          <a:prstGeom prst="roundRect">
            <a:avLst>
              <a:gd name="adj" fmla="val 24997500"/>
            </a:avLst>
          </a:prstGeom>
          <a:solidFill>
            <a:srgbClr val="133E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95827" y="2326658"/>
            <a:ext cx="400039" cy="2806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95707" y="3076574"/>
            <a:ext cx="2809804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1040"/>
              </a:spcAft>
            </a:pPr>
            <a:r>
              <a:rPr sz="1674" b="1">
                <a:solidFill>
                  <a:srgbClr val="133EFF"/>
                </a:solidFill>
                <a:latin typeface="Source Code Pro"/>
              </a:rPr>
              <a:t>Chaînage Arrière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91055" y="3629025"/>
            <a:ext cx="609584" cy="38100"/>
          </a:xfrm>
          <a:prstGeom prst="rect">
            <a:avLst/>
          </a:prstGeom>
          <a:solidFill>
            <a:srgbClr val="133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95707" y="3895724"/>
            <a:ext cx="2809804" cy="100964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275"/>
              </a:lnSpc>
              <a:spcBef>
                <a:spcPts val="0"/>
              </a:spcBef>
              <a:spcAft>
                <a:spcPts val="1560"/>
              </a:spcAft>
            </a:pPr>
            <a:r>
              <a:rPr sz="1315" b="0">
                <a:solidFill>
                  <a:srgbClr val="666666"/>
                </a:solidFill>
                <a:latin typeface="Roboto Flex"/>
              </a:rPr>
              <a:t>Partir d'un but à prouver et rechercher les règles qui concluent ce but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95707" y="5133975"/>
            <a:ext cx="2809804" cy="485775"/>
          </a:xfrm>
          <a:prstGeom prst="roundRect">
            <a:avLst>
              <a:gd name="adj" fmla="val 31372"/>
            </a:avLst>
          </a:prstGeom>
          <a:solidFill>
            <a:srgbClr val="133E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171945" y="5284946"/>
            <a:ext cx="228594" cy="17430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514837" y="5248275"/>
            <a:ext cx="1495387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333333"/>
                </a:solidFill>
                <a:latin typeface="Roboto Flex"/>
              </a:rPr>
              <a:t>Backward Chaining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05572" y="1743075"/>
            <a:ext cx="3419389" cy="4181474"/>
          </a:xfrm>
          <a:prstGeom prst="roundRect">
            <a:avLst>
              <a:gd name="adj" fmla="val 4456"/>
            </a:avLst>
          </a:prstGeom>
          <a:solidFill>
            <a:srgbClr val="FFFFFF"/>
          </a:solidFill>
          <a:ln w="33020">
            <a:solidFill>
              <a:srgbClr val="00C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439039" y="2085975"/>
            <a:ext cx="761980" cy="761999"/>
          </a:xfrm>
          <a:prstGeom prst="roundRect">
            <a:avLst>
              <a:gd name="adj" fmla="val 24997500"/>
            </a:avLst>
          </a:prstGeom>
          <a:solidFill>
            <a:srgbClr val="00CD82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620009" y="2320688"/>
            <a:ext cx="400039" cy="2925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410364" y="3076574"/>
            <a:ext cx="2809804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1040"/>
              </a:spcAft>
            </a:pPr>
            <a:r>
              <a:rPr sz="1674" b="1">
                <a:solidFill>
                  <a:srgbClr val="00CD82"/>
                </a:solidFill>
                <a:latin typeface="Source Code Pro"/>
              </a:rPr>
              <a:t>Chaînage Mixte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15237" y="3629025"/>
            <a:ext cx="609584" cy="38100"/>
          </a:xfrm>
          <a:prstGeom prst="rect">
            <a:avLst/>
          </a:prstGeom>
          <a:solidFill>
            <a:srgbClr val="00C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10364" y="3895724"/>
            <a:ext cx="2809804" cy="100964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275"/>
              </a:lnSpc>
              <a:spcBef>
                <a:spcPts val="0"/>
              </a:spcBef>
              <a:spcAft>
                <a:spcPts val="1560"/>
              </a:spcAft>
            </a:pPr>
            <a:r>
              <a:rPr sz="1315" b="0">
                <a:solidFill>
                  <a:srgbClr val="666666"/>
                </a:solidFill>
                <a:latin typeface="Roboto Flex"/>
              </a:rPr>
              <a:t>Combinaison des deux approches pour une analyse complète et optimisée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0364" y="5133975"/>
            <a:ext cx="2809804" cy="485775"/>
          </a:xfrm>
          <a:prstGeom prst="roundRect">
            <a:avLst>
              <a:gd name="adj" fmla="val 31372"/>
            </a:avLst>
          </a:prstGeom>
          <a:solidFill>
            <a:srgbClr val="00CD82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991375" y="5300662"/>
            <a:ext cx="228594" cy="142875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334266" y="5248275"/>
            <a:ext cx="1304892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0" dirty="0">
                <a:solidFill>
                  <a:srgbClr val="333333"/>
                </a:solidFill>
                <a:latin typeface="Roboto Flex"/>
              </a:rPr>
              <a:t>Hybrid Approach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66733" y="114300"/>
            <a:ext cx="2057348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133EFF"/>
                </a:solidFill>
                <a:latin typeface="Source Code Pro"/>
              </a:rPr>
              <a:t>Interface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6733" y="1266824"/>
            <a:ext cx="3419389" cy="2486025"/>
          </a:xfrm>
          <a:prstGeom prst="roundRect">
            <a:avLst>
              <a:gd name="adj" fmla="val 9195"/>
            </a:avLst>
          </a:prstGeom>
          <a:solidFill>
            <a:srgbClr val="FFFFFF"/>
          </a:solidFill>
          <a:ln w="33020">
            <a:solidFill>
              <a:srgbClr val="133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71525" y="1609724"/>
            <a:ext cx="609584" cy="609600"/>
          </a:xfrm>
          <a:prstGeom prst="roundRect">
            <a:avLst>
              <a:gd name="adj" fmla="val 31246875"/>
            </a:avLst>
          </a:prstGeom>
          <a:solidFill>
            <a:srgbClr val="133E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04872" y="1769679"/>
            <a:ext cx="342891" cy="2896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33506" y="1743075"/>
            <a:ext cx="962000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133EFF"/>
                </a:solidFill>
                <a:latin typeface="Source Code Pro"/>
              </a:rPr>
              <a:t>Scanner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297" y="2566621"/>
            <a:ext cx="276218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70" b="1" dirty="0">
                <a:solidFill>
                  <a:srgbClr val="133EFF"/>
                </a:solidFill>
                <a:latin typeface="Source Code Pro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62040" y="2628900"/>
            <a:ext cx="590535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 dirty="0">
                <a:solidFill>
                  <a:srgbClr val="666666"/>
                </a:solidFill>
                <a:latin typeface="Roboto Flex"/>
              </a:rPr>
              <a:t>Étapes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25" y="3067050"/>
            <a:ext cx="2809804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0" dirty="0">
                <a:solidFill>
                  <a:srgbClr val="999999"/>
                </a:solidFill>
                <a:latin typeface="Roboto Flex"/>
              </a:rPr>
              <a:t>Questionnaire </a:t>
            </a:r>
            <a:r>
              <a:rPr sz="1076" b="0" dirty="0" err="1">
                <a:solidFill>
                  <a:srgbClr val="999999"/>
                </a:solidFill>
                <a:latin typeface="Roboto Flex"/>
              </a:rPr>
              <a:t>interactif</a:t>
            </a:r>
            <a:endParaRPr sz="1076" b="0" dirty="0">
              <a:solidFill>
                <a:srgbClr val="999999"/>
              </a:solidFill>
              <a:latin typeface="Roboto Flex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90915" y="1266824"/>
            <a:ext cx="3419389" cy="2486025"/>
          </a:xfrm>
          <a:prstGeom prst="roundRect">
            <a:avLst>
              <a:gd name="adj" fmla="val 9195"/>
            </a:avLst>
          </a:prstGeom>
          <a:solidFill>
            <a:srgbClr val="FFFFFF"/>
          </a:solidFill>
          <a:ln w="33020">
            <a:solidFill>
              <a:srgbClr val="133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695707" y="1609724"/>
            <a:ext cx="609584" cy="609600"/>
          </a:xfrm>
          <a:prstGeom prst="roundRect">
            <a:avLst>
              <a:gd name="adj" fmla="val 31246875"/>
            </a:avLst>
          </a:prstGeom>
          <a:solidFill>
            <a:srgbClr val="133E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29054" y="1781503"/>
            <a:ext cx="342891" cy="26604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57688" y="1743075"/>
            <a:ext cx="1238219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133EFF"/>
                </a:solidFill>
                <a:latin typeface="Source Code Pro"/>
              </a:rPr>
              <a:t>Résultats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5707" y="2476499"/>
            <a:ext cx="149538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666666"/>
                </a:solidFill>
                <a:latin typeface="Roboto Flex"/>
              </a:rPr>
              <a:t>Classification par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95707" y="2900082"/>
            <a:ext cx="190495" cy="16248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62400" y="2900082"/>
            <a:ext cx="190495" cy="16248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229094" y="2900082"/>
            <a:ext cx="190495" cy="16248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495787" y="2900082"/>
            <a:ext cx="190495" cy="16248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695707" y="3190874"/>
            <a:ext cx="2809804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780"/>
              </a:spcBef>
              <a:spcAft>
                <a:spcPts val="0"/>
              </a:spcAft>
            </a:pPr>
            <a:r>
              <a:rPr sz="1076" b="0">
                <a:solidFill>
                  <a:srgbClr val="999999"/>
                </a:solidFill>
                <a:latin typeface="Roboto Flex"/>
              </a:rPr>
              <a:t>Niveaux de sévérité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5572" y="1266824"/>
            <a:ext cx="3419389" cy="2486025"/>
          </a:xfrm>
          <a:prstGeom prst="roundRect">
            <a:avLst>
              <a:gd name="adj" fmla="val 9195"/>
            </a:avLst>
          </a:prstGeom>
          <a:solidFill>
            <a:srgbClr val="FFFFFF"/>
          </a:solidFill>
          <a:ln w="33020">
            <a:solidFill>
              <a:srgbClr val="00C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410364" y="1609724"/>
            <a:ext cx="600059" cy="609600"/>
          </a:xfrm>
          <a:prstGeom prst="roundRect">
            <a:avLst>
              <a:gd name="adj" fmla="val 31742857"/>
            </a:avLst>
          </a:prstGeom>
          <a:solidFill>
            <a:srgbClr val="00CD82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543711" y="1769679"/>
            <a:ext cx="342891" cy="28969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162820" y="1743075"/>
            <a:ext cx="2057348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00CD82"/>
                </a:solidFill>
                <a:latin typeface="Source Code Pro"/>
              </a:rPr>
              <a:t>Recommandations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0364" y="2447924"/>
            <a:ext cx="1095347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70" b="1">
                <a:solidFill>
                  <a:srgbClr val="00CD82"/>
                </a:solidFill>
                <a:latin typeface="Source Code Pro"/>
              </a:rPr>
              <a:t>Auto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0364" y="3057525"/>
            <a:ext cx="2809804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999999"/>
                </a:solidFill>
                <a:latin typeface="Roboto Flex"/>
              </a:rPr>
              <a:t>Correctifs suggérés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6733" y="4133849"/>
            <a:ext cx="5276718" cy="2266950"/>
          </a:xfrm>
          <a:prstGeom prst="roundRect">
            <a:avLst>
              <a:gd name="adj" fmla="val 10084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971525" y="4481146"/>
            <a:ext cx="304792" cy="25790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390615" y="4438649"/>
            <a:ext cx="1781130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133EFF"/>
                </a:solidFill>
                <a:latin typeface="Source Code Pro"/>
              </a:rPr>
              <a:t>Configuration</a:t>
            </a: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971525" y="5071782"/>
            <a:ext cx="190495" cy="16248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76318" y="5010149"/>
            <a:ext cx="1714457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666666"/>
                </a:solidFill>
                <a:latin typeface="Roboto Flex"/>
              </a:rPr>
              <a:t>Sélection du serveur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971525" y="5471832"/>
            <a:ext cx="190495" cy="16248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276318" y="5410199"/>
            <a:ext cx="1723981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666666"/>
                </a:solidFill>
                <a:latin typeface="Roboto Flex"/>
              </a:rPr>
              <a:t>Choix de la méthode</a:t>
            </a: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971525" y="5871882"/>
            <a:ext cx="190495" cy="16248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76318" y="5810249"/>
            <a:ext cx="1695407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666666"/>
                </a:solidFill>
                <a:latin typeface="Roboto Flex"/>
              </a:rPr>
              <a:t>Paramètres avancés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48243" y="4133849"/>
            <a:ext cx="5276718" cy="2266950"/>
          </a:xfrm>
          <a:prstGeom prst="roundRect">
            <a:avLst>
              <a:gd name="adj" fmla="val 10084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6553036" y="4510453"/>
            <a:ext cx="304792" cy="19929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972125" y="4438649"/>
            <a:ext cx="2333566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00CD82"/>
                </a:solidFill>
                <a:latin typeface="Source Code Pro"/>
              </a:rPr>
              <a:t>Trace d'Inférence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6553036" y="5099797"/>
            <a:ext cx="190495" cy="106455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857828" y="5010149"/>
            <a:ext cx="1543011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666666"/>
                </a:solidFill>
                <a:latin typeface="Roboto Flex"/>
              </a:rPr>
              <a:t>Règles appliquées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6553036" y="5499847"/>
            <a:ext cx="190495" cy="10645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857828" y="5410199"/>
            <a:ext cx="1076298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666666"/>
                </a:solidFill>
                <a:latin typeface="Roboto Flex"/>
              </a:rPr>
              <a:t>Faits déduits</a:t>
            </a:r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6553036" y="5899897"/>
            <a:ext cx="190495" cy="106455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857828" y="5810249"/>
            <a:ext cx="1609684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666666"/>
                </a:solidFill>
                <a:latin typeface="Roboto Flex"/>
              </a:rPr>
              <a:t>Historique complet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6733" y="114300"/>
            <a:ext cx="4343291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133EFF"/>
                </a:solidFill>
                <a:latin typeface="Source Code Pro"/>
              </a:rPr>
              <a:t>Exemple d'Exécution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66733" y="1447800"/>
            <a:ext cx="3286042" cy="476250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 Same Side Corner Rectangle 3"/>
          <p:cNvSpPr/>
          <p:nvPr/>
        </p:nvSpPr>
        <p:spPr>
          <a:xfrm rot="16200000">
            <a:off x="-1648477" y="3763010"/>
            <a:ext cx="47625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33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33426" y="1676400"/>
            <a:ext cx="457188" cy="457200"/>
          </a:xfrm>
          <a:prstGeom prst="roundRect">
            <a:avLst>
              <a:gd name="adj" fmla="val 41662500"/>
            </a:avLst>
          </a:prstGeom>
          <a:solidFill>
            <a:srgbClr val="133E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38199" y="1816616"/>
            <a:ext cx="247643" cy="1958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04912" y="1733550"/>
            <a:ext cx="1924001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133EFF"/>
                </a:solidFill>
                <a:latin typeface="Source Code Pro"/>
              </a:rPr>
              <a:t>Faits Initiaux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85822" y="3728908"/>
            <a:ext cx="209544" cy="181232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85822" y="4367083"/>
            <a:ext cx="209544" cy="18123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181370" y="1447800"/>
            <a:ext cx="4438539" cy="4762500"/>
          </a:xfrm>
          <a:prstGeom prst="roundRect">
            <a:avLst>
              <a:gd name="adj" fmla="val 515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 Same Side Corner Rectangle 10"/>
          <p:cNvSpPr/>
          <p:nvPr/>
        </p:nvSpPr>
        <p:spPr>
          <a:xfrm rot="16200000">
            <a:off x="1866160" y="3763010"/>
            <a:ext cx="47625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C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448063" y="1676400"/>
            <a:ext cx="457188" cy="457200"/>
          </a:xfrm>
          <a:prstGeom prst="roundRect">
            <a:avLst>
              <a:gd name="adj" fmla="val 41662500"/>
            </a:avLst>
          </a:prstGeom>
          <a:solidFill>
            <a:srgbClr val="00CD82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52836" y="1825255"/>
            <a:ext cx="247643" cy="17853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19549" y="1733550"/>
            <a:ext cx="1781130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00CD82"/>
                </a:solidFill>
                <a:latin typeface="Source Code Pro"/>
              </a:rPr>
              <a:t>Règle PORT-01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05352" y="3688018"/>
            <a:ext cx="171445" cy="110612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314917" y="4089082"/>
            <a:ext cx="228594" cy="165734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38979" y="1447800"/>
            <a:ext cx="2828854" cy="4762500"/>
          </a:xfrm>
          <a:prstGeom prst="roundRect">
            <a:avLst>
              <a:gd name="adj" fmla="val 808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 Same Side Corner Rectangle 17"/>
          <p:cNvSpPr/>
          <p:nvPr/>
        </p:nvSpPr>
        <p:spPr>
          <a:xfrm rot="16200000">
            <a:off x="6523769" y="3763010"/>
            <a:ext cx="47625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105672" y="1676400"/>
            <a:ext cx="457188" cy="457200"/>
          </a:xfrm>
          <a:prstGeom prst="roundRect">
            <a:avLst>
              <a:gd name="adj" fmla="val 41662500"/>
            </a:avLst>
          </a:prstGeom>
          <a:solidFill>
            <a:srgbClr val="EA580C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210444" y="1812297"/>
            <a:ext cx="247643" cy="20445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77158" y="1733550"/>
            <a:ext cx="1095347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EA580C"/>
                </a:solidFill>
                <a:latin typeface="Source Code Pro"/>
              </a:rPr>
              <a:t>Résultat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8068" y="3409950"/>
            <a:ext cx="590535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16" b="0">
                <a:solidFill>
                  <a:srgbClr val="666666"/>
                </a:solidFill>
                <a:latin typeface="Roboto Flex"/>
              </a:rPr>
              <a:t>Sévérité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48603" y="3333749"/>
            <a:ext cx="1438239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1674" b="1">
                <a:solidFill>
                  <a:srgbClr val="EA580C"/>
                </a:solidFill>
                <a:latin typeface="Source Code Pro"/>
              </a:rPr>
              <a:t>DANGEROUS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9258068" y="4167058"/>
            <a:ext cx="209544" cy="18123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581910" y="4171950"/>
            <a:ext cx="1342991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16" b="0">
                <a:solidFill>
                  <a:srgbClr val="666666"/>
                </a:solidFill>
                <a:latin typeface="Roboto Flex"/>
              </a:rPr>
              <a:t>Recommandation: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81910" y="4429125"/>
            <a:ext cx="1704932" cy="5143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195"/>
              </a:spcBef>
              <a:spcAft>
                <a:spcPts val="0"/>
              </a:spcAft>
            </a:pPr>
            <a:r>
              <a:rPr sz="1076" b="0">
                <a:solidFill>
                  <a:srgbClr val="333333"/>
                </a:solidFill>
                <a:latin typeface="Roboto Flex"/>
              </a:rPr>
              <a:t>Désactiver auth mot de passe</a:t>
            </a:r>
          </a:p>
        </p:txBody>
      </p:sp>
      <p:pic>
        <p:nvPicPr>
          <p:cNvPr id="28" name="Image 27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B1D9E560-0108-046A-4678-7D43DC89D0E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3815" y="1214072"/>
            <a:ext cx="11745964" cy="522995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6733" y="114300"/>
            <a:ext cx="2285942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133EFF"/>
                </a:solidFill>
                <a:latin typeface="Source Code Pro"/>
              </a:rPr>
              <a:t>Conclusion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476438" y="962025"/>
            <a:ext cx="7238819" cy="5715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33020">
            <a:solidFill>
              <a:srgbClr val="133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2781230" y="1609724"/>
            <a:ext cx="533386" cy="533399"/>
          </a:xfrm>
          <a:prstGeom prst="roundRect">
            <a:avLst>
              <a:gd name="adj" fmla="val 35710714"/>
            </a:avLst>
          </a:prstGeom>
          <a:solidFill>
            <a:srgbClr val="133E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95527" y="1747471"/>
            <a:ext cx="304792" cy="2579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28914" y="1676400"/>
            <a:ext cx="1924001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1674" b="1">
                <a:solidFill>
                  <a:srgbClr val="133EFF"/>
                </a:solidFill>
                <a:latin typeface="Source Code Pro"/>
              </a:rPr>
              <a:t>Réalisations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1230" y="2447924"/>
            <a:ext cx="6629234" cy="914400"/>
          </a:xfrm>
          <a:prstGeom prst="roundRect">
            <a:avLst>
              <a:gd name="adj" fmla="val 16666"/>
            </a:avLst>
          </a:prstGeom>
          <a:solidFill>
            <a:srgbClr val="133EFF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971725" y="2600325"/>
            <a:ext cx="380990" cy="380999"/>
          </a:xfrm>
          <a:prstGeom prst="roundRect">
            <a:avLst>
              <a:gd name="adj" fmla="val 49995000"/>
            </a:avLst>
          </a:prstGeom>
          <a:solidFill>
            <a:srgbClr val="133E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7923" y="2707957"/>
            <a:ext cx="228594" cy="16573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05112" y="2619374"/>
            <a:ext cx="2266893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sz="1315" b="1">
                <a:solidFill>
                  <a:srgbClr val="133EFF"/>
                </a:solidFill>
                <a:latin typeface="Source Code Pro"/>
              </a:rPr>
              <a:t>50 Règles Expertes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5112" y="2952750"/>
            <a:ext cx="2533586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260"/>
              </a:spcBef>
              <a:spcAft>
                <a:spcPts val="0"/>
              </a:spcAft>
            </a:pPr>
            <a:r>
              <a:rPr sz="1076" b="0">
                <a:solidFill>
                  <a:srgbClr val="999999"/>
                </a:solidFill>
                <a:latin typeface="Roboto Flex"/>
              </a:rPr>
              <a:t>Base de connaissances complète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1230" y="3552825"/>
            <a:ext cx="6629234" cy="914400"/>
          </a:xfrm>
          <a:prstGeom prst="roundRect">
            <a:avLst>
              <a:gd name="adj" fmla="val 16666"/>
            </a:avLst>
          </a:prstGeom>
          <a:solidFill>
            <a:srgbClr val="133EFF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971725" y="3705224"/>
            <a:ext cx="380990" cy="380999"/>
          </a:xfrm>
          <a:prstGeom prst="roundRect">
            <a:avLst>
              <a:gd name="adj" fmla="val 49995000"/>
            </a:avLst>
          </a:prstGeom>
          <a:solidFill>
            <a:srgbClr val="133E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47923" y="3807142"/>
            <a:ext cx="228594" cy="1771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05112" y="3724274"/>
            <a:ext cx="2762180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sz="1315" b="1">
                <a:solidFill>
                  <a:srgbClr val="133EFF"/>
                </a:solidFill>
                <a:latin typeface="Source Code Pro"/>
              </a:rPr>
              <a:t>3 Méthodes d'Inférence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5112" y="4057650"/>
            <a:ext cx="2762180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260"/>
              </a:spcBef>
              <a:spcAft>
                <a:spcPts val="0"/>
              </a:spcAft>
            </a:pPr>
            <a:r>
              <a:rPr sz="1076" b="0">
                <a:solidFill>
                  <a:srgbClr val="999999"/>
                </a:solidFill>
                <a:latin typeface="Roboto Flex"/>
              </a:rPr>
              <a:t>Avant, Arrière, Mixte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81230" y="4657725"/>
            <a:ext cx="6629234" cy="914400"/>
          </a:xfrm>
          <a:prstGeom prst="roundRect">
            <a:avLst>
              <a:gd name="adj" fmla="val 16666"/>
            </a:avLst>
          </a:prstGeom>
          <a:solidFill>
            <a:srgbClr val="133EFF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2971725" y="4810124"/>
            <a:ext cx="380990" cy="380999"/>
          </a:xfrm>
          <a:prstGeom prst="roundRect">
            <a:avLst>
              <a:gd name="adj" fmla="val 49995000"/>
            </a:avLst>
          </a:prstGeom>
          <a:solidFill>
            <a:srgbClr val="133E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047923" y="4917757"/>
            <a:ext cx="228594" cy="16573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505112" y="4829175"/>
            <a:ext cx="263835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sz="1315" b="1">
                <a:solidFill>
                  <a:srgbClr val="133EFF"/>
                </a:solidFill>
                <a:latin typeface="Source Code Pro"/>
              </a:rPr>
              <a:t>Interface Web Moderne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5112" y="5162550"/>
            <a:ext cx="2638359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260"/>
              </a:spcBef>
              <a:spcAft>
                <a:spcPts val="0"/>
              </a:spcAft>
            </a:pPr>
            <a:r>
              <a:rPr sz="1076" b="0">
                <a:solidFill>
                  <a:srgbClr val="999999"/>
                </a:solidFill>
                <a:latin typeface="Roboto Flex"/>
              </a:rPr>
              <a:t>React + Tailwind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81230" y="5762625"/>
            <a:ext cx="6629234" cy="914400"/>
          </a:xfrm>
          <a:prstGeom prst="roundRect">
            <a:avLst>
              <a:gd name="adj" fmla="val 16666"/>
            </a:avLst>
          </a:prstGeom>
          <a:solidFill>
            <a:srgbClr val="133EFF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971725" y="5915025"/>
            <a:ext cx="380990" cy="380999"/>
          </a:xfrm>
          <a:prstGeom prst="roundRect">
            <a:avLst>
              <a:gd name="adj" fmla="val 49995000"/>
            </a:avLst>
          </a:prstGeom>
          <a:solidFill>
            <a:srgbClr val="133E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047923" y="6022657"/>
            <a:ext cx="228594" cy="16573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505112" y="5934075"/>
            <a:ext cx="2133546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sz="1315" b="1">
                <a:solidFill>
                  <a:srgbClr val="133EFF"/>
                </a:solidFill>
                <a:latin typeface="Source Code Pro"/>
              </a:rPr>
              <a:t>Déploiement Cloud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05112" y="6267449"/>
            <a:ext cx="2133546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260"/>
              </a:spcBef>
              <a:spcAft>
                <a:spcPts val="0"/>
              </a:spcAft>
            </a:pPr>
            <a:r>
              <a:rPr sz="1076" b="0">
                <a:solidFill>
                  <a:srgbClr val="999999"/>
                </a:solidFill>
                <a:latin typeface="Roboto Flex"/>
              </a:rPr>
              <a:t>Railway + GitHub Pages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5638659" y="866775"/>
            <a:ext cx="914377" cy="914400"/>
          </a:xfrm>
          <a:prstGeom prst="roundRect">
            <a:avLst>
              <a:gd name="adj" fmla="val 20831250"/>
            </a:avLst>
          </a:prstGeom>
          <a:solidFill>
            <a:srgbClr val="133E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829154" y="1087581"/>
            <a:ext cx="533386" cy="4727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018380" y="2475918"/>
            <a:ext cx="6231129" cy="190616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5720"/>
              </a:lnSpc>
              <a:spcBef>
                <a:spcPts val="0"/>
              </a:spcBef>
              <a:spcAft>
                <a:spcPts val="2600"/>
              </a:spcAft>
            </a:pPr>
            <a:r>
              <a:rPr sz="5262" b="1" dirty="0">
                <a:solidFill>
                  <a:srgbClr val="133EFF"/>
                </a:solidFill>
                <a:latin typeface="Source Code Pro"/>
              </a:rPr>
              <a:t>Merci</a:t>
            </a:r>
            <a:r>
              <a:rPr lang="fr-FR" sz="5262" b="1" dirty="0">
                <a:solidFill>
                  <a:srgbClr val="133EFF"/>
                </a:solidFill>
                <a:latin typeface="Source Code Pro"/>
              </a:rPr>
              <a:t> pour </a:t>
            </a:r>
          </a:p>
          <a:p>
            <a:pPr algn="ctr">
              <a:lnSpc>
                <a:spcPts val="5720"/>
              </a:lnSpc>
              <a:spcBef>
                <a:spcPts val="0"/>
              </a:spcBef>
              <a:spcAft>
                <a:spcPts val="2600"/>
              </a:spcAft>
            </a:pPr>
            <a:r>
              <a:rPr lang="fr-FR" sz="5262" b="1" dirty="0">
                <a:solidFill>
                  <a:srgbClr val="133EFF"/>
                </a:solidFill>
                <a:latin typeface="Source Code Pro"/>
              </a:rPr>
              <a:t>votre attention</a:t>
            </a:r>
            <a:endParaRPr sz="5262" b="1" dirty="0">
              <a:solidFill>
                <a:srgbClr val="133EFF"/>
              </a:solidFill>
              <a:latin typeface="Source Code Pro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419483" y="4468534"/>
            <a:ext cx="1219169" cy="1905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133EFF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67247" y="4357897"/>
            <a:ext cx="304792" cy="24032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00634" y="4468534"/>
            <a:ext cx="1219169" cy="1905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133EFF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240</Words>
  <Application>Microsoft Office PowerPoint</Application>
  <PresentationFormat>Grand écran</PresentationFormat>
  <Paragraphs>94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4" baseType="lpstr">
      <vt:lpstr>Arial</vt:lpstr>
      <vt:lpstr>Calibri</vt:lpstr>
      <vt:lpstr>Roboto Flex</vt:lpstr>
      <vt:lpstr>Source Code Pro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kira star</cp:lastModifiedBy>
  <cp:revision>2</cp:revision>
  <dcterms:created xsi:type="dcterms:W3CDTF">2013-01-27T09:14:16Z</dcterms:created>
  <dcterms:modified xsi:type="dcterms:W3CDTF">2025-12-31T21:19:35Z</dcterms:modified>
  <cp:category/>
</cp:coreProperties>
</file>